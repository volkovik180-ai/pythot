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4" r:id="rId4"/>
    <p:sldId id="275" r:id="rId5"/>
    <p:sldId id="278" r:id="rId6"/>
    <p:sldId id="276" r:id="rId7"/>
    <p:sldId id="277" r:id="rId8"/>
    <p:sldId id="279" r:id="rId9"/>
    <p:sldId id="280" r:id="rId10"/>
    <p:sldId id="281" r:id="rId11"/>
    <p:sldId id="282" r:id="rId12"/>
    <p:sldId id="283" r:id="rId13"/>
    <p:sldId id="284" r:id="rId14"/>
    <p:sldId id="270" r:id="rId15"/>
    <p:sldId id="273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308" autoAdjust="0"/>
    <p:restoredTop sz="94660"/>
  </p:normalViewPr>
  <p:slideViewPr>
    <p:cSldViewPr snapToGrid="0">
      <p:cViewPr>
        <p:scale>
          <a:sx n="50" d="100"/>
          <a:sy n="50" d="100"/>
        </p:scale>
        <p:origin x="24" y="10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E94A04-863A-41AA-BDB6-EDEA2C579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592BD8-5186-4EB0-978C-473A0E492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4A42B6-14D1-41D3-A1F1-14C2DC2F9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D8D72A-13F0-401C-8E32-5538A80F5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D19678-F06F-4FAC-9A17-8BE7268C0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47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6DEBE0-A6D5-470D-B4C0-C9BBDA73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78EB63-A0A1-40B0-ABB1-D901BCE3B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CBF2C8-3F14-4216-9728-3E24A750E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A6E170-4704-42EE-A8BB-9EE121250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DF669C-BF49-4A05-8DC6-62205A55A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8868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5EFDA0-CAAA-4FCD-BF04-4F43CFB1C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FB4EE4-7212-4AE0-B0DB-4885D1BE6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59A735-90B6-44B3-A2EF-2F88865D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2439A-68CF-4E97-BDC8-83FC3AC1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C4C5A7-B05A-476C-99E4-4336D51C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988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8AA501-07DC-49DA-B043-F5D24FC7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C5DAC4-678A-43B0-9CF3-9032BEDAE3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2D2F383-20AD-4103-B42D-9E45FC5B1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D93878-36FC-4AB6-9F8A-9AED4299A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7C2BD0-6B61-4D9A-88EE-6F8F501ED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307B08-8A42-4F8A-9624-5339049F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17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193F8-A7D8-4167-AAB6-19F0E7D94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4AE54D-1EF0-4DA8-A289-E695AC23F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318EC9-E858-4E8B-BE7A-E60370ADE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E47204-E5EF-4F7D-8EB0-AEFEA3971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14D833-3C62-4A61-946D-A99646614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09A54F8-B09E-49A7-85A4-38567FE9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E30894-FA37-4151-A135-988CF9B75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6E67C05-6F79-4537-81B3-7AB34F015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53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CB1908-15F1-40D4-8EEB-AC2460411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AC113AA-FDC0-4911-B523-A34D40A56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4B032A-202C-4526-BBAB-C12A14967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CC8C67-AA82-4A62-8330-8551C6CE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333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B87E1D2-6D5F-4250-B284-BDF392F91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5AFB2D9-1685-4300-A9A8-89CB468D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3D8A3F-1F9E-4880-A282-B5AD710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42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84F36-8C11-4B84-BF2E-6FCAD2BE5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30238A-768C-4209-8C75-2974065F6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8AFD51-7ED2-490E-BCD4-86C53499F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6A8DF4-3669-4F34-957D-9478A5763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D16354-C4C7-4DAE-AAB1-ACFB0F3E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A6D133-F60A-4E6C-84DD-F499D8AD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130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FD8B36-8B66-4796-AECD-803223DF4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87540A0-48D7-49AE-A5DA-007B31E8B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E19A47-EFC0-46D4-804A-E172D870E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005E0A-36E0-4188-8605-AAFF9F352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B3EB317-D9CB-4B3A-BF15-FA71A11FF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EE7066-DB4A-4061-B90A-54EA7B60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244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349781-8322-4A67-A0C3-5FB5FCD5D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4694EBF-FEDF-4A0E-9F4B-314B347A3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BA3CB0-68B4-4A74-B48E-2450F0B8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4D7C80-E503-4F18-852F-4875D1DF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1FC8946-CFC1-41F6-9254-0FED0A001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979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FDE7316-0BFA-4B7E-9CFA-C25ABF7F9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F2EDBF-6F90-4C72-9990-5FF594A06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9D23B2-305C-4BE2-8F3F-7F7128DE9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28D78E-B8E8-4ED5-9594-24E81DE42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A389CE-8E0C-4EFD-8278-75F462A0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7751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64DBA-8C85-40F2-9A51-FB63FB8FC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1DAF1A-32DA-4F43-9327-A383603C9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134148-EC0C-4AAD-8257-63A7F0F26D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37F72-9A0D-40C4-A71E-513DC7393635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DBE7F2-2C0E-4381-B20A-2C70B8510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F30C55-3306-4816-A25A-DF3356A3E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C9FAC-1B08-45FD-9055-8AC1081C4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059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10F1B7-CAC0-4347-A1C6-7F4649B97A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7" b="49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8E1BBFF-2793-440B-A550-12E14F9463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41A65C-F2B9-4256-A760-630C9039E1A6}"/>
              </a:ext>
            </a:extLst>
          </p:cNvPr>
          <p:cNvSpPr/>
          <p:nvPr/>
        </p:nvSpPr>
        <p:spPr>
          <a:xfrm>
            <a:off x="1261872" y="1354052"/>
            <a:ext cx="9668256" cy="2322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Исследование</a:t>
            </a:r>
            <a:r>
              <a:rPr lang="en-US" sz="4800" dirty="0"/>
              <a:t> </a:t>
            </a:r>
            <a:r>
              <a:rPr lang="ru-RU" sz="4800" dirty="0"/>
              <a:t>пользователей</a:t>
            </a:r>
            <a:r>
              <a:rPr lang="en-US" sz="4800" dirty="0"/>
              <a:t> Netflix</a:t>
            </a:r>
            <a:endParaRPr lang="ru-RU" sz="48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1DD0A4C-BC58-4A4C-A922-EE297569EE48}"/>
              </a:ext>
            </a:extLst>
          </p:cNvPr>
          <p:cNvSpPr/>
          <p:nvPr/>
        </p:nvSpPr>
        <p:spPr>
          <a:xfrm>
            <a:off x="6875369" y="4626419"/>
            <a:ext cx="4684776" cy="1700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Исследование выполнил Волков Виктор 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3236523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D6D802-B142-4A3B-B44C-19CEA37E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77876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Исследование выборки пользователей  </a:t>
            </a:r>
            <a:r>
              <a:rPr lang="en-US" sz="4000" dirty="0"/>
              <a:t>Netflix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7DC1B0-76B2-4DB4-887C-DA7F18D6A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dirty="0"/>
              <a:t>Проводится исследование выборки данных:</a:t>
            </a:r>
          </a:p>
          <a:p>
            <a:pPr lvl="1">
              <a:lnSpc>
                <a:spcPct val="150000"/>
              </a:lnSpc>
            </a:pPr>
            <a:r>
              <a:rPr lang="ru-RU" sz="2800" dirty="0"/>
              <a:t>Всего уникальных строк в выборке: 2 500 </a:t>
            </a:r>
          </a:p>
          <a:p>
            <a:pPr lvl="1">
              <a:lnSpc>
                <a:spcPct val="150000"/>
              </a:lnSpc>
            </a:pPr>
            <a:r>
              <a:rPr lang="ru-RU" sz="2800" dirty="0"/>
              <a:t>Количество уникальных пользователей: 2 500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810485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30C42-79B8-4FC8-BE16-BE83663D5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Резкий рост в середине 2022 года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813F8DF-2CCD-4A31-B6E9-118BEE157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C23C497-687A-4D7A-AB55-BB257867B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437" y="1191419"/>
            <a:ext cx="11287125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259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DFEE3-BD38-4286-8D37-2CE867885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0"/>
            <a:ext cx="10515600" cy="776288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80%</a:t>
            </a:r>
            <a:r>
              <a:rPr lang="en-US" dirty="0"/>
              <a:t> </a:t>
            </a:r>
            <a:r>
              <a:rPr lang="ru-RU" dirty="0"/>
              <a:t>пользователей 30–49 лет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038D34-2058-4990-844D-4E11E5144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5F5CE23-4FB7-4243-8B0D-37CB5E770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22" y="1377151"/>
            <a:ext cx="10621478" cy="548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434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70F59-7F79-4C35-9D2F-CE08C846F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895" y="18255"/>
            <a:ext cx="10515600" cy="1126333"/>
          </a:xfrm>
        </p:spPr>
        <p:txBody>
          <a:bodyPr/>
          <a:lstStyle/>
          <a:p>
            <a:pPr algn="ctr"/>
            <a:r>
              <a:rPr lang="ru-RU" dirty="0"/>
              <a:t>Гендерный баланс идеален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D1B872-83B9-4062-999C-B6B9ABD91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D395EF36-C069-41E9-9032-9CDBF46B4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32" y="971550"/>
            <a:ext cx="11359126" cy="562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79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D6A8B4-5B30-48CD-8411-39D2AA80D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8" y="-163512"/>
            <a:ext cx="11772900" cy="1325563"/>
          </a:xfrm>
        </p:spPr>
        <p:txBody>
          <a:bodyPr>
            <a:normAutofit/>
          </a:bodyPr>
          <a:lstStyle/>
          <a:p>
            <a:pPr algn="ctr"/>
            <a:r>
              <a:rPr lang="ru-RU" sz="4000" dirty="0"/>
              <a:t>Экосистема устройств сбалансирована и стабильна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87E37D-3D1B-481F-8C4A-7A0C921B4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E439BEE-DBF5-490A-8C7C-750667E66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" y="813571"/>
            <a:ext cx="10687050" cy="591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36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1EE9DE-5206-4344-A4A1-D126BF99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12" y="0"/>
            <a:ext cx="10515600" cy="773583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Базовая подписка - 40% пользователей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8AD20E-2728-4385-99B3-313ED6BF1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6B21F3AF-90B3-451D-8F74-9D2918077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54" y="773583"/>
            <a:ext cx="10764058" cy="6061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948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C7660-2501-4BE3-ADCA-703E90B6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525" y="0"/>
            <a:ext cx="10515600" cy="857619"/>
          </a:xfrm>
        </p:spPr>
        <p:txBody>
          <a:bodyPr/>
          <a:lstStyle/>
          <a:p>
            <a:pPr algn="ctr"/>
            <a:r>
              <a:rPr lang="ru-RU" dirty="0"/>
              <a:t>Лидер по сумме транзакций — США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620A2C-3086-40AF-A3C9-07DBF2689A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7D7694B1-7F9D-4BCE-A2CB-36CDD095E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01" y="875875"/>
            <a:ext cx="10691813" cy="598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806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CE1FF1-55B4-44D9-9DC1-D87D7217D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49" y="0"/>
            <a:ext cx="10868799" cy="1177887"/>
          </a:xfrm>
        </p:spPr>
        <p:txBody>
          <a:bodyPr>
            <a:normAutofit fontScale="90000"/>
          </a:bodyPr>
          <a:lstStyle/>
          <a:p>
            <a:r>
              <a:rPr lang="ru-RU" dirty="0"/>
              <a:t>Лидер по привлечению пользователей - Испания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6C2058-E627-40FC-A46C-A2BEB202B2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C6076F61-4911-44D9-9EDB-F699C27BD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1177887"/>
            <a:ext cx="11419703" cy="5680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136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3DDD0-16B6-4C33-AAFD-93189B02F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Бизнес демонстрирует развитие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23B9E5-33F2-4BE0-9F00-E41BEF8AE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D9E50F76-C859-4D8F-9B0A-02D4DB948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1560"/>
            <a:ext cx="12192000" cy="5673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897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313572-ECBF-44F1-A53C-F2C535B59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8891"/>
            <a:ext cx="10515600" cy="829944"/>
          </a:xfrm>
        </p:spPr>
        <p:txBody>
          <a:bodyPr>
            <a:normAutofit fontScale="90000"/>
          </a:bodyPr>
          <a:lstStyle/>
          <a:p>
            <a:r>
              <a:rPr lang="ru-RU" dirty="0"/>
              <a:t>Наиболее платежеспособная группа: 25-29 лет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219383-2705-4EE4-9C96-155C784AB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CA605C8-3C11-4C0C-ABC1-A67DA9BAE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01052"/>
            <a:ext cx="12192000" cy="605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350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52143-8C83-4F9D-84E9-08C694D6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Тариф </a:t>
            </a:r>
            <a:r>
              <a:rPr lang="ru-RU" dirty="0" err="1"/>
              <a:t>Basic</a:t>
            </a:r>
            <a:r>
              <a:rPr lang="ru-RU" dirty="0"/>
              <a:t> преобладает во всех группах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9790E1-23D3-41A9-A29C-C1BF90508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CAD7A08-CACA-4FAE-B7CE-6254DEA44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8406"/>
            <a:ext cx="12192000" cy="556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096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68F9B-2B68-4D9E-9B56-89D1C58F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46"/>
            <a:ext cx="10515600" cy="651192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Различия между странами ярко выражены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A8DAB6-5E90-4E43-B867-277E463AC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5FF8E266-1CA9-47A8-BE2E-8D701A8FE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" y="753612"/>
            <a:ext cx="11567160" cy="610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4513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975E3C-7668-4072-83FF-17394732C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063" y="370574"/>
            <a:ext cx="10515600" cy="886159"/>
          </a:xfrm>
        </p:spPr>
        <p:txBody>
          <a:bodyPr>
            <a:normAutofit/>
          </a:bodyPr>
          <a:lstStyle/>
          <a:p>
            <a:pPr algn="ctr"/>
            <a:r>
              <a:rPr lang="ru-RU" dirty="0"/>
              <a:t>Ключевые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AB6DA4-52B8-4F8B-8487-1BF5FD880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306" y="1366786"/>
            <a:ext cx="11110761" cy="5322771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1" dirty="0"/>
              <a:t>📈 РОСТ: 800x выручки за 22 месяца при стабильной аудитории 30-49 лет</a:t>
            </a:r>
          </a:p>
          <a:p>
            <a:pPr marL="514350" indent="-514350">
              <a:buFont typeface="+mj-lt"/>
              <a:buAutoNum type="arabicPeriod"/>
            </a:pPr>
            <a:endParaRPr lang="ru-RU" b="1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🌍 ГЕОГРАФИЯ: 3 культурных кластера → нужна локализация стратегий</a:t>
            </a:r>
          </a:p>
          <a:p>
            <a:pPr marL="514350" indent="-514350">
              <a:buFont typeface="+mj-lt"/>
              <a:buAutoNum type="arabicPeriod"/>
            </a:pPr>
            <a:endParaRPr lang="ru-RU" b="1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💰 МОНЕТИЗАЦИЯ: </a:t>
            </a:r>
            <a:r>
              <a:rPr lang="ru-RU" b="1" dirty="0" err="1"/>
              <a:t>Basic</a:t>
            </a:r>
            <a:r>
              <a:rPr lang="ru-RU" b="1" dirty="0"/>
              <a:t> — 40% базы и выручки, но есть потенциал </a:t>
            </a:r>
            <a:r>
              <a:rPr lang="ru-RU" b="1" dirty="0" err="1"/>
              <a:t>апсейла</a:t>
            </a:r>
            <a:endParaRPr lang="ru-RU" b="1" dirty="0"/>
          </a:p>
          <a:p>
            <a:pPr marL="514350" indent="-514350">
              <a:buFont typeface="+mj-lt"/>
              <a:buAutoNum type="arabicPeriod"/>
            </a:pPr>
            <a:endParaRPr lang="ru-RU" b="1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⚠️ РИСКИ: Сезонность (пик в октябре, спад весной) + низкая конверсия в </a:t>
            </a:r>
            <a:r>
              <a:rPr lang="ru-RU" b="1" dirty="0" err="1"/>
              <a:t>Premium</a:t>
            </a:r>
            <a:endParaRPr lang="ru-RU" b="1" dirty="0"/>
          </a:p>
          <a:p>
            <a:pPr marL="514350" indent="-514350">
              <a:buFont typeface="+mj-lt"/>
              <a:buAutoNum type="arabicPeriod"/>
            </a:pPr>
            <a:endParaRPr lang="ru-RU" b="1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✅ СТРАТЕГИЯ: </a:t>
            </a:r>
          </a:p>
          <a:p>
            <a:pPr lvl="1"/>
            <a:r>
              <a:rPr lang="ru-RU" sz="2900" b="1" dirty="0"/>
              <a:t>Сглаживание сезонных провалов</a:t>
            </a:r>
          </a:p>
          <a:p>
            <a:pPr lvl="1"/>
            <a:r>
              <a:rPr lang="ru-RU" sz="2900" b="1" dirty="0"/>
              <a:t>Таргетированный </a:t>
            </a:r>
            <a:r>
              <a:rPr lang="ru-RU" sz="2900" b="1" dirty="0" err="1"/>
              <a:t>апсейл</a:t>
            </a:r>
            <a:r>
              <a:rPr lang="ru-RU" sz="2900" b="1" dirty="0"/>
              <a:t> </a:t>
            </a:r>
            <a:r>
              <a:rPr lang="ru-RU" sz="2900" b="1" dirty="0" err="1"/>
              <a:t>Basic→Premium</a:t>
            </a:r>
            <a:endParaRPr lang="ru-RU" sz="2900" b="1" dirty="0"/>
          </a:p>
          <a:p>
            <a:pPr lvl="1"/>
            <a:r>
              <a:rPr lang="ru-RU" sz="2900" b="1" dirty="0"/>
              <a:t>Кластерный подход к маркетингу по странам</a:t>
            </a:r>
          </a:p>
          <a:p>
            <a:pPr marL="514350" indent="-514350">
              <a:buFont typeface="+mj-lt"/>
              <a:buAutoNum type="arabicPeriod"/>
            </a:pPr>
            <a:endParaRPr lang="ru-RU" b="1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🏁 ИТОГ: Устойчивая бизнес-модель с запасом роста через гибкую продуктовую политику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9411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6F1D923-1008-4F8D-A47F-09A60F39B1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7" b="498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8E1BBFF-2793-440B-A550-12E14F9463E7}"/>
              </a:ext>
            </a:extLst>
          </p:cNvPr>
          <p:cNvSpPr/>
          <p:nvPr/>
        </p:nvSpPr>
        <p:spPr>
          <a:xfrm>
            <a:off x="20213" y="-3"/>
            <a:ext cx="12192000" cy="6858000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4DB4889-CB5F-43AB-AB6B-B81D9B587DDB}"/>
              </a:ext>
            </a:extLst>
          </p:cNvPr>
          <p:cNvSpPr/>
          <p:nvPr/>
        </p:nvSpPr>
        <p:spPr>
          <a:xfrm>
            <a:off x="1261872" y="1106421"/>
            <a:ext cx="9668256" cy="2322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48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1DD0A4C-BC58-4A4C-A922-EE297569EE48}"/>
              </a:ext>
            </a:extLst>
          </p:cNvPr>
          <p:cNvSpPr/>
          <p:nvPr/>
        </p:nvSpPr>
        <p:spPr>
          <a:xfrm>
            <a:off x="6702552" y="4736598"/>
            <a:ext cx="4684776" cy="17007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Волков Виктор </a:t>
            </a:r>
            <a:r>
              <a:rPr lang="en-US" sz="2000" dirty="0"/>
              <a:t>@volkovik180</a:t>
            </a:r>
            <a:endParaRPr lang="ru-RU" sz="20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41A65C-F2B9-4256-A760-630C9039E1A6}"/>
              </a:ext>
            </a:extLst>
          </p:cNvPr>
          <p:cNvSpPr/>
          <p:nvPr/>
        </p:nvSpPr>
        <p:spPr>
          <a:xfrm>
            <a:off x="1550630" y="2121402"/>
            <a:ext cx="9668256" cy="2322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1662164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12030</TotalTime>
  <Words>187</Words>
  <Application>Microsoft Office PowerPoint</Application>
  <PresentationFormat>Широкоэкранный</PresentationFormat>
  <Paragraphs>34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Тема Office</vt:lpstr>
      <vt:lpstr>Презентация PowerPoint</vt:lpstr>
      <vt:lpstr>Исследование выборки пользователей  Netflix</vt:lpstr>
      <vt:lpstr>Резкий рост в середине 2022 года</vt:lpstr>
      <vt:lpstr>80% пользователей 30–49 лет</vt:lpstr>
      <vt:lpstr>Гендерный баланс идеален</vt:lpstr>
      <vt:lpstr>Экосистема устройств сбалансирована и стабильна</vt:lpstr>
      <vt:lpstr>Базовая подписка - 40% пользователей</vt:lpstr>
      <vt:lpstr>Лидер по сумме транзакций — США</vt:lpstr>
      <vt:lpstr>Лидер по привлечению пользователей - Испания</vt:lpstr>
      <vt:lpstr>Бизнес демонстрирует развитие</vt:lpstr>
      <vt:lpstr>Наиболее платежеспособная группа: 25-29 лет</vt:lpstr>
      <vt:lpstr>Тариф Basic преобладает во всех группах</vt:lpstr>
      <vt:lpstr>Различия между странами ярко выражены</vt:lpstr>
      <vt:lpstr>Ключевые выводы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Виктор Волков</dc:creator>
  <cp:lastModifiedBy>Виктор Волков</cp:lastModifiedBy>
  <cp:revision>32</cp:revision>
  <dcterms:created xsi:type="dcterms:W3CDTF">2026-02-14T07:12:14Z</dcterms:created>
  <dcterms:modified xsi:type="dcterms:W3CDTF">2026-02-23T08:19:07Z</dcterms:modified>
</cp:coreProperties>
</file>